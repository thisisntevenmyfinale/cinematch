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E8403E"/>
                </a:solidFill>
                <a:latin typeface="Calibri"/>
              </a:defRPr>
            </a:pPr>
            <a:r>
              <a:t>CINEMATCH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E5E5E5"/>
                </a:solidFill>
                <a:latin typeface="Calibri"/>
              </a:defRPr>
            </a:pPr>
            <a:r>
              <a:t>Movie Recommender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08080"/>
                </a:solidFill>
                <a:latin typeface="Calibri"/>
              </a:defRPr>
            </a:pPr>
            <a:r>
              <a:t>Recommender Systems Course  |  Prof. Marc Torrens  |  ESADE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5E5E5"/>
                </a:solidFill>
                <a:latin typeface="Calibri"/>
              </a:defRPr>
            </a:pPr>
            <a:r>
              <a:t>Jan Philipp Gnau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5E5E5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371600" cy="54864"/>
          </a:xfrm>
          <a:prstGeom prst="rect">
            <a:avLst/>
          </a:prstGeom>
          <a:solidFill>
            <a:srgbClr val="E84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1. Problem &amp;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2. Non-Personalized Baselines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3. Content-Based Filtering (TF-IDF)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4. Collaborative Filtering (User-User &amp; Item-Item)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5. Matrix Factorization (Biased SGD)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6. Evaluation: Accuracy 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7. Evaluation: Beyond Accuracy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262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8. Trade-off Analysis &amp; Fairness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937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9. UX &amp; Prototype Demo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3492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10. Conclusions &amp; Lessons Learned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5E5E5"/>
                </a:solidFill>
                <a:latin typeface="Calibri"/>
              </a:defRPr>
            </a:pPr>
            <a:r>
              <a:t>PROBLEM &amp; DATASET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371600" cy="54864"/>
          </a:xfrm>
          <a:prstGeom prst="rect">
            <a:avLst/>
          </a:prstGeom>
          <a:solidFill>
            <a:srgbClr val="E84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Goal: recommend movies a user will enjoy, from a large catalog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Dataset: MovieLens Latest Small (GroupLens)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100,836 ratings  |  610 users  |  9,742 movies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Rating scale: 0.5 -- 5.0 (half-star increments)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Sparsity: 98.3% of the user-item matrix is empty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Train/Test split: 80/20 random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Challenge: extreme sparsity limits collaborative methods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5E5E5"/>
                </a:solidFill>
                <a:latin typeface="Calibri"/>
              </a:defRPr>
            </a:pPr>
            <a:r>
              <a:t>EXPLORATORY DATA ANALYSIS</a:t>
            </a:r>
          </a:p>
        </p:txBody>
      </p:sp>
      <p:pic>
        <p:nvPicPr>
          <p:cNvPr id="3" name="Picture 2" descr="eda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51560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08080"/>
                </a:solidFill>
                <a:latin typeface="Calibri"/>
              </a:defRPr>
            </a:pPr>
            <a:r>
              <a:t>Rating distribution, user activity, and item popularity from MovieLens Latest Small.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5E5E5"/>
                </a:solidFill>
                <a:latin typeface="Calibri"/>
              </a:defRPr>
            </a:pPr>
            <a:r>
              <a:t>NON-PERSONALIZED BASELINES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371600" cy="54864"/>
          </a:xfrm>
          <a:prstGeom prst="rect">
            <a:avLst/>
          </a:prstGeom>
          <a:solidFill>
            <a:srgbClr val="E84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Most Popular: rank by interaction count (# ratings)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Highest Average: S(u,i) = mean of all ratings for item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-- Minimum 20 ratings filter to avoid noise (CollaborativeFiltering.pdf, Folie 12)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Random: control baseline (EvaluationRecommenderSystems.pdf, Folie 28)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Results: Most Popular achieves Precision@10 = 0.122 (best overall!)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-- Crowd favorites are a strong signal in sparse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262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-- But: 100% popularity bias, 0% serendipity, coverage &lt; 1%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5E5E5"/>
                </a:solidFill>
                <a:latin typeface="Calibri"/>
              </a:defRPr>
            </a:pPr>
            <a:r>
              <a:t>CONTENT-BASED FILTERING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371600" cy="54864"/>
          </a:xfrm>
          <a:prstGeom prst="rect">
            <a:avLst/>
          </a:prstGeom>
          <a:solidFill>
            <a:srgbClr val="E84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Item representation: TF-IDF on genres (ContentBasedFiltering.pdf, Folie 37)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-- Optionally enriched with user-generated tags (Folie 17)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User profile: profile(u) = Sigma_i (r_ui - r_u) * vector(i), normalized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-- (ContentBasedFiltering.pdf, Folien 27-28)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Prediction: score(u,i) = cos(profile_u, vector_i) (Folie 33)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Results: Precision@10 = 0.009  |  Coverage = 20.6%  |  Diversity = 0.09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262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Low accuracy but best genre-coherent lists (low diversity = focused)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937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Very low popularity bias (18.6%) -- good for discovery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5E5E5"/>
                </a:solidFill>
                <a:latin typeface="Calibri"/>
              </a:defRPr>
            </a:pPr>
            <a:r>
              <a:t>COLLABORATIVE FILTERING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371600" cy="54864"/>
          </a:xfrm>
          <a:prstGeom prst="rect">
            <a:avLst/>
          </a:prstGeom>
          <a:solidFill>
            <a:srgbClr val="E84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User-User CF (CollaborativeFiltering.pdf, Folie 15):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S(u,i) = r_u + Sigma_v (r_vi - r_v) * w_uv / Sigma |w_uv|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Similarity: Pearson Correlation (Folie 18)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Item-Item CF (CollaborativeFiltering.pdf, Folie 29):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S(u,i) = r_i + Sigma_j (r_uj - r_j) * w_ij / Sigma |w_ij|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Similarity: Adjusted Cosine (Folie 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262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914400" y="4937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Both near-zero Precision@10 due to 98.3% sparsity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3492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User-User: MAE=0.678, RMSE=0.893 (rating prediction is better)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7607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But: highest novelty (9.2) and zero popularity bias!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5E5E5"/>
                </a:solidFill>
                <a:latin typeface="Calibri"/>
              </a:defRPr>
            </a:pPr>
            <a:r>
              <a:t>MATRIX FACTORIZATION (Biased SGD)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371600" cy="54864"/>
          </a:xfrm>
          <a:prstGeom prst="rect">
            <a:avLst/>
          </a:prstGeom>
          <a:solidFill>
            <a:srgbClr val="E84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MatrixFactorization.pdf, Folien 6-7 + Koren et al. (2009):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r_hat = mu + b_u + b_i + p_u * q_i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50 latent factors, 20 epochs, lr=0.005, reg=0.02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SGD: b_u += alpha*(e - lambda*b_u), p_u += alpha*(e*q_i - lambda*p_u)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Correct p_u_old for q_i update (simultaneous gradient)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14400" y="45262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Results: Precision@10 = 0.053  |  RMSE = 0.881  |  MAE = 0.675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937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Best personalized method for top-N recommendation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3492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Training converges: RMSE 0.86 -&gt; 0.73 over 20 epochs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5E5E5"/>
                </a:solidFill>
                <a:latin typeface="Calibri"/>
              </a:defRPr>
            </a:pPr>
            <a:r>
              <a:t>MF TRAINING CONVERGENCE</a:t>
            </a:r>
          </a:p>
        </p:txBody>
      </p:sp>
      <p:pic>
        <p:nvPicPr>
          <p:cNvPr id="3" name="Picture 2" descr="mf_trai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51560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08080"/>
                </a:solidFill>
                <a:latin typeface="Calibri"/>
              </a:defRPr>
            </a:pPr>
            <a:r>
              <a:t>Training RMSE decreases steadily over 20 epochs, confirming proper SGD convergence.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5E5E5"/>
                </a:solidFill>
                <a:latin typeface="Calibri"/>
              </a:defRPr>
            </a:pPr>
            <a:r>
              <a:t>ACCURACY: MODEL COMPARISON</a:t>
            </a:r>
          </a:p>
        </p:txBody>
      </p:sp>
      <p:pic>
        <p:nvPicPr>
          <p:cNvPr id="3" name="Picture 2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51560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08080"/>
                </a:solidFill>
                <a:latin typeface="Calibri"/>
              </a:defRPr>
            </a:pPr>
            <a:r>
              <a:t>Precision@K, Recall@K, NDCG@K, MRR, Hit Rate across all 8 models.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5E5E5"/>
                </a:solidFill>
                <a:latin typeface="Calibri"/>
              </a:defRPr>
            </a:pPr>
            <a:r>
              <a:t>BEYOND ACCURACY</a:t>
            </a:r>
          </a:p>
        </p:txBody>
      </p:sp>
      <p:pic>
        <p:nvPicPr>
          <p:cNvPr id="3" name="Picture 2" descr="per_user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51560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08080"/>
                </a:solidFill>
                <a:latin typeface="Calibri"/>
              </a:defRPr>
            </a:pPr>
            <a:r>
              <a:t>Per-user metric distributions showing variance across users (Precision@K and NDCG@K).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5E5E5"/>
                </a:solidFill>
                <a:latin typeface="Calibri"/>
              </a:defRPr>
            </a:pPr>
            <a:r>
              <a:t>TRADE-OFF: PRECISION vs DIVERSITY vs NOVELTY</a:t>
            </a:r>
          </a:p>
        </p:txBody>
      </p:sp>
      <p:pic>
        <p:nvPicPr>
          <p:cNvPr id="3" name="Picture 2" descr="tradeoff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51560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08080"/>
                </a:solidFill>
                <a:latin typeface="Calibri"/>
              </a:defRPr>
            </a:pPr>
            <a:r>
              <a:t>Core trade-off from lectures: accuracy vs. diversity/novelty/coverage. No single model dominates all dimensions.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5E5E5"/>
                </a:solidFill>
                <a:latin typeface="Calibri"/>
              </a:defRPr>
            </a:pPr>
            <a:r>
              <a:t>MULTI-DIMENSIONAL MODEL COMPARISON</a:t>
            </a:r>
          </a:p>
        </p:txBody>
      </p:sp>
      <p:pic>
        <p:nvPicPr>
          <p:cNvPr id="3" name="Picture 2" descr="radar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51560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3093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08080"/>
                </a:solidFill>
                <a:latin typeface="Calibri"/>
              </a:defRPr>
            </a:pPr>
            <a:r>
              <a:t>Normalized radar chart: each model excels in different dimensions. Hybrid approaches are needed.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5E5E5"/>
                </a:solidFill>
                <a:latin typeface="Calibri"/>
              </a:defRPr>
            </a:pPr>
            <a:r>
              <a:t>FAIRNESS &amp; POPULARITY BIAS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371600" cy="54864"/>
          </a:xfrm>
          <a:prstGeom prst="rect">
            <a:avLst/>
          </a:prstGeom>
          <a:solidFill>
            <a:srgbClr val="E84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Fairness: NDCG@K gap between heavy raters (&gt;50th percentile) and light raters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Largest gap: Most Popular (0.156) -- heavy raters benefit disproportionately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Matrix Factorization gap: 0.143 -- also biased toward active users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CB+Tags gap: 0.005 -- most equitable across user groups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Random gap: 0.003 -- naturally fair (no personalization)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14400" y="45262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Popularity bias: Most Popular = 100% from top 10% items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937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CF methods = 0% popularity bias (but also near-zero precision)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3492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Production systems need explicit debiasing strategies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5E5E5"/>
                </a:solidFill>
                <a:latin typeface="Calibri"/>
              </a:defRPr>
            </a:pPr>
            <a:r>
              <a:t>UX &amp; PROTOTYPE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371600" cy="54864"/>
          </a:xfrm>
          <a:prstGeom prst="rect">
            <a:avLst/>
          </a:prstGeom>
          <a:solidFill>
            <a:srgbClr val="E84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Netflix-inspired Streamlit UI with 6 pages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Design: dark theme (#141414), Bebas Neue / Inter / JetBrains Mono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Poster lazy loading via TMDb API with JSON cache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Pages: Home (hero + trending), Discover (search + filter + similar),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Recommendations (7 algorithms), User Profile (stats + genre radar),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Compare (side-by-side with overlap heatmap), Evaluation (full metrics)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262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914400" y="4937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Poster cards with hover overlay showing title, year, genres, and 'why'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3492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Horizontal scroll rows mimicking Netflix filmstrip UX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5E5E5"/>
                </a:solidFill>
                <a:latin typeface="Calibri"/>
              </a:defRPr>
            </a:pPr>
            <a:r>
              <a:t>CONCLUSIONS &amp; LESSONS LEARNED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371600" cy="54864"/>
          </a:xfrm>
          <a:prstGeom prst="rect">
            <a:avLst/>
          </a:prstGeom>
          <a:solidFill>
            <a:srgbClr val="E84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1. All formulas implemented exactly as in lecture slides (verified audit)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2. Most Popular is surprisingly strong in sparse data (Precision@10 = 0.122)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3. CF struggles at 98.3% sparsity -- good discussion material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4. MF is the best personalized method (Precision = 0.053, RMSE = 0.881)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5. Core trade-off: accuracy vs discovery (as lectures emphasize)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6. No single model dominates all dimensions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14400" y="45262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Key insight from Netflix Prize (Folie 22):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937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'Ensembles win benchmarks' and 'Evaluation defines success'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3492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5E5E5"/>
                </a:solidFill>
                <a:latin typeface="Calibri"/>
              </a:defRPr>
            </a:pPr>
            <a:r>
              <a:t>  RMSE alone does not capture recommendation quality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