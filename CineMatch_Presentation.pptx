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E8403E"/>
                </a:solidFill>
                <a:latin typeface="Calibri"/>
              </a:defRPr>
            </a:pPr>
            <a:r>
              <a:t>CINEMATCH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5E5E5"/>
                </a:solidFill>
                <a:latin typeface="Calibri"/>
              </a:defRPr>
            </a:pPr>
            <a:r>
              <a:t>Movie Recommender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08080"/>
                </a:solidFill>
                <a:latin typeface="Calibri"/>
              </a:defRPr>
            </a:pPr>
            <a:r>
              <a:t>Recommender Systems Course  |  Prof. Marc Torrens  |  ESADE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5E5E5"/>
                </a:solidFill>
                <a:latin typeface="Calibri"/>
              </a:defRPr>
            </a:pPr>
            <a:r>
              <a:t>Jan Philipp Gnau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1.  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2.  Non-Personalized 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3.  Content-Based Filtering (TF-IDF)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4.  Collaborative Filtering (User-User &amp; Item-Item)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5.  Matrix Factorization (Biased SGD)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6.  Evaluation: Accuracy, Beyond Accuracy, Trade-offs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7.  Technical Challenges &amp;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8.  Ethical &amp; Social 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9.  UX &amp; Prototype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10. Conclusions, Future Work &amp; Final Remarks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Goal: recommend movies a user will enjoy, from a catalog of 9,742 titles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Dataset: MovieLens Latest Small -- GroupLens Research (University of Minnesota)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License: research &amp; educational use permitted (see dataset README)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100,836 ratings  |  610 users  |  9,742 movies  |  0.5--5.0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Data representation: User-Item matrix (610 x 9742), 98.3% sparse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No filtering or sampling applied -- all raw data used as-is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Train/Test split: 80/20 random, stratified by user (random_state=42)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Same dataset, 8 algorithms: enables direct, fair method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Agile approach: basic evaluation running from week 1, extended iteratively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EXPLORATORY DATA ANALYSIS</a:t>
            </a:r>
          </a:p>
        </p:txBody>
      </p:sp>
      <p:pic>
        <p:nvPicPr>
          <p:cNvPr id="3" name="Picture 2" descr="ed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Rating distribution, user activity, and item popularity from MovieLens Latest Small.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NON-PERSONALIZED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Most Popular: rank by interaction count (# ratings)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Highest Average: S(u,i) = mean of all ratings for item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Minimum 20 ratings filter to avoid noise (CollaborativeFiltering.pdf, Folie 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Random: control baseline (EvaluationRecommenderSystems.pdf, Folie 28)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Results: Most Popular achieves Precision@10 = 0.122 (best overall!)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Strength: crowd favorites are a strong signal in sparse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Weakness: 100% popularity bias, 0% serendipity, coverage &lt; 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Use case: cold-start fallback when no user history is available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CONTENT-BASED FILTERING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Item representation: TF-IDF on genres (ContentBasedFiltering.pdf, Folie 37)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Optionally enriched with user-generated tags (Folie 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User profile: profile(u) = Sigma_i (r_ui - r_u) * vector(i), normalized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(ContentBasedFiltering.pdf, Folien 27-28)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Prediction: score(u,i) = cos(profile_u, vector_i) (Folie 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Results: P@10 = 0.009  |  Coverage = 20.6%  |  Diversity = 0.09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Strength: best coverage (20.6%) and lowest pop bias (18.6%) -- good for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Weakness: low accuracy, limited by genre granularity (only 20 genres)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Use case: niche discovery, cold-start items (no ratings needed for items)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COLLABORATIVE FILTERING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User-User CF (CollaborativeFiltering.pdf, Folie 15):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S(u,i) = r_u + Sigma_v (r_vi - r_v) * w_uv / Sigma |w_uv|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Similarity: Pearson Correlation (Folie 18), top-k=20 neighbours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Item-Item CF (CollaborativeFiltering.pdf, Folie 29):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S(u,i) = r_i + Sigma_j (r_uj - r_j) * w_ij / Sigma |w_ij|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Similarity: Adjusted Cosine (Folie 26), top-k=20 neighbours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Strength: RMSE = 0.893 (User-User), highest novelty = 9.2, 0% pop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Weakness: near-zero P@10 -- 98.3% sparsity means too few co-rated 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Use case: rating prediction (not top-N) on denser datasets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MATRIX FACTORIZATION (Biased SGD)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MatrixFactorization.pdf, Folien 6-7 + Koren et al. (2009):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r_hat = mu + b_u + b_i + p_u * q_i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50 latent factors, 20 epochs, lr=0.005, reg=0.02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SGD: b_u += alpha*(e - lambda*b_u), p_u += alpha*(e*q_i - lambda*p_u)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Correct p_u_old for q_i update (simultaneous gradient)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Results: P@10 = 0.053  |  RMSE = 0.881  |  Hit Rate = 32.4%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Strength: best personalized method (P@10 4x higher than Content-Based)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Weakness: only 32.4% of users receive at least one relevant hit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Use case: personalized ranking at scale (O(n_ratings * k) per epoch)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MF TRAINING CONVERGENCE</a:t>
            </a:r>
          </a:p>
        </p:txBody>
      </p:sp>
      <p:pic>
        <p:nvPicPr>
          <p:cNvPr id="3" name="Picture 2" descr="mf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Training RMSE decreases steadily over 20 epochs, confirming proper SGD convergence.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EVALUATION: ACCURACY METRICS</a:t>
            </a:r>
          </a:p>
        </p:txBody>
      </p:sp>
      <p:pic>
        <p:nvPicPr>
          <p:cNvPr id="3" name="Picture 2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Prediction metrics (MAE, RMSE) and ranking metrics (Precision@10, Recall@10, NDCG@10, MRR, Hit Rate@10) across all 8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EVALUATION: BEYOND ACCURACY</a:t>
            </a:r>
          </a:p>
        </p:txBody>
      </p:sp>
      <p:pic>
        <p:nvPicPr>
          <p:cNvPr id="3" name="Picture 2" descr="per_user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Beyond-accuracy measures: Coverage, Diversity, Novelty, Popularity Bias, Serendipity, Fairness. Per-user distributions reveal high variance -- mean alone does not tell the full 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METHOD COMPARISON: ALL MODELS, SAME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                       P@10     RMSE    Coverage  Novelty  Pop Bias  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Most Popular           0.122     --       0.6%      1.7      100%    0.003s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Highest Average        0.046     --       0.3%      3.4       88%    0.005s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Content-Based          0.009     --      20.6%      6.8       19%    0.034s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CB + Tags              0.008     --      21.2%      7.1       16%    0.322s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User-User CF           0.000    0.893     2.1%      9.1        0%   12.35s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Item-Item CF           0.000    0.935     5.0%      9.2        0%    3.84s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Matrix Factorization   0.053    0.881     2.4%      3.3       86%   19.87s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Ranking metrics | Prediction metrics | Beyond-accuracy measures -- all three categories shown.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No single model dominates all dimensions: this IS the core lecture insight.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TRADE-OFF: PRECISION vs DIVERSITY vs NOVELTY</a:t>
            </a:r>
          </a:p>
        </p:txBody>
      </p:sp>
      <p:pic>
        <p:nvPicPr>
          <p:cNvPr id="3" name="Picture 2" descr="tradeoff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Example: Most Popular has 13x higher Precision than Content-Based (0.122 vs 0.009) but 34x lower Coverage (0.6% vs 20.6%) and 4x higher Popularity Bias (100% vs 19%). As the lectures emphasise: accuracy is not enough.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MULTI-DIMENSIONAL MODEL COMPARISON</a:t>
            </a:r>
          </a:p>
        </p:txBody>
      </p:sp>
      <p:pic>
        <p:nvPicPr>
          <p:cNvPr id="3" name="Picture 2" descr="rad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Normalized radar chart: each model excels in different dimensions. Diversity, novelty, bias, and scalability vary as much as accuracy.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FAIRNESS &amp; POPULARITY BIAS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Fairness: NDCG@K gap between heavy raters (&gt;50th percentile) and light raters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Largest gap: Most Popular (0.156) -- heavy raters benefit disproportionately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Matrix Factorization gap: 0.143 -- also biased toward active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CB+Tags gap: 0.005 -- most equitable across user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Random gap: 0.003 -- naturally fair (no personalization)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Popularity bias: Most Popular = 100% from top 10%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CF methods = 0% popularity bias (but also near-zero precision)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Production systems need explicit debiasing strategies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TECHNICAL CHALLENGES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Sparsity (98.3%): the dominant challenge -- User-User CF finds too few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co-rated items for reliable Pearson correlations, P@10 drops to ~0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Cold-start: new users without history receive non-personalized fallback;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new items without ratings are invisible to CF/MF (content-based can help)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Scalability: User-User CF = O(n_users^2 * n_items), 12.3s to train;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Most Popular = O(n_ratings), 0.003s -- 4000x faster for higher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Popularity bias: Most Popular recommends only the top 0.6% of items,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creating a rich-get-richer feedback loop in production systems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ETHICAL &amp; SOCIAL IMPLICATIONS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Filter bubbles: Content-Based diversity = 0.09 -- users see increasingly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narrow genre profiles, limiting cultural 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Popularity bias: Most Popular (100%) surfaces the same 60 movies to 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users, marginalizing 99.4% of the catalog (rich-get-richer loop)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Fairness: heavy raters get 2x better NDCG than light raters (Most Pop gap=0.156)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Privacy: CF requires storing individual rating histories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Transparency: MF latent factors are not interpretable to end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User autonomy: no control over recommendation logic in this prototype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UX &amp; PROTOTYPE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Netflix-inspired Streamlit UI with 6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Design: dark theme (#141414), consistent with CineMatch brand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Poster lazy loading via TMDb API with JSON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Pages: Home (hero + trending), Discover (search + filter + similar),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Recommendations (7 algorithms), User Profile (stats + genre radar),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Compare (side-by-side with overlap heatmap), Evaluation (full metrics)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Poster cards with hover overlay showing title, year, genres, and 'why'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Horizontal scroll rows mimicking Netflix filmstrip UX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Hybrid model (CF + Content-Based): combine MF's personalized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with CB's item features to address both cold-start and sparsity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Online learning: update latent factors incrementally as new ratings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arrive, instead of full retraining (critical for production deployment)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A/B testing framework: measure real user engagement (clicks, watch time),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not just offline metrics -- offline P@10 does not predict user satisfaction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Explicit debiasing: re-rank to enforce minimum diversity/coverage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All four target the identified weaknesses: cold-start, sparsity, pop bias, offline gap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FINAL REMARKS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All formulas implemented exactly as in Prof. Torrens' lecture slides (verified audit)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Most Popular is surprisingly strong in sparse data (P@10 = 0.122) -- but only 32.4%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of users get a relevant hit even from the best personalized method (MF)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'Accuracy is not enough': diversity, novelty, bias, and scalability matter equally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No single model dominates; ensembles are the path forward (Netflix Prize, Folie 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When is MF worth 20s training over 0.003s Most Popular? Only when platform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makes a 5% precision lift translate to significant engagement gains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Honest limitation: at 98.3% sparsity all methods struggle with top-N;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academically rigorous, but production deployment requires hybrid extensions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